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4FD8EA"/>
                </a:solidFill>
                <a:latin typeface="Calibri"/>
              </a:rPr>
              <a:t>TEAM EIGENNEXUS  ·  GLOBAL INDUSTRY CHALLENGE 2026  ·  QBRAID × MITRE × JONESTRADING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CHIMERA-QRC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3000" b="0">
                <a:solidFill>
                  <a:srgbClr val="A9B4C8"/>
                </a:solidFill>
                <a:latin typeface="Calibri"/>
              </a:rPr>
              <a:t>The Honest Quantum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A9B4C8"/>
                </a:solidFill>
                <a:latin typeface="Calibri"/>
              </a:rPr>
              <a:t>Quantum reservoir computing for financial volatility — Track A.  </a:t>
            </a:r>
            <a:r>
              <a:rPr sz="1500" b="1">
                <a:solidFill>
                  <a:srgbClr val="FFFFFF"/>
                </a:solidFill>
                <a:latin typeface="Calibri"/>
              </a:rPr>
              <a:t>Ten QPU campaigns · three vendors · four devices · every claim controlled.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Christian Metzl (Lead / Architect)   ·   Fares Eldibani (Data Science)   ·   Juan Manuel Aguiar Hualde (PhD Physics)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6E7A90"/>
                </a:solidFill>
                <a:latin typeface="Calibri"/>
              </a:rPr>
              <a:t>Every number in this deck traces to a committed artifact and a platform-timestamped job record.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THREE SENTENCES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What we found — and can prove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57C88B"/>
                </a:solidFill>
                <a:latin typeface="Calibri"/>
              </a:rPr>
              <a:t>$0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for quantum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Across every fair, pre-registered test, a plain classical formula (HAR-X) still wins. Parity at best, never advantage — the avoided-cost result your risk committee needs in writing.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4FD8EA"/>
                </a:solidFill>
                <a:latin typeface="Calibri"/>
              </a:rPr>
              <a:t>3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retained quantum signal on real hardware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Trapped-ion (IonQ) and two superconducting chips (IQM Garnet at n=10/12, IQM Emerald) executed our reservoir with signal intact — refuting our own pre-registered predictions, under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9164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01168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EEB24C"/>
                </a:solidFill>
                <a:latin typeface="Calibri"/>
              </a:rPr>
              <a:t>9.7–24σ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880360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margin on every hardware regime claim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1188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Bootstrap re-analysis of the committed raw counts re-derives every number and puts each verdict far beyond shot noise. Billing audited to the half-credit across ≈64k credits.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A9B4C8"/>
                </a:solidFill>
                <a:latin typeface="Calibri"/>
              </a:rPr>
              <a:t>The differentiator is not a claim — it is the audit machinery that makes every claim checkable.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TEN CAMPAIGNS,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The coherence wall, measured from both sides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4022053"/>
            <a:ext cx="1188720" cy="1052866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1115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IonQ Forte-1
n=8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ion, 500 shots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9736" y="3465249"/>
            <a:ext cx="1188720" cy="1609670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95728" y="325180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8296" y="315435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514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364012"/>
            <a:ext cx="1188720" cy="1710907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95344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67912" y="30531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 n=8
same-window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58968" y="3262775"/>
            <a:ext cx="1188720" cy="181214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59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67528" y="295187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Emerald
n=8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58584" y="3151414"/>
            <a:ext cx="1188720" cy="1923505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94576" y="2897472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67144" y="284051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57C88B"/>
                </a:solidFill>
                <a:latin typeface="Calibri"/>
              </a:rPr>
              <a:t>0.190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3992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
n=12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58200" y="2736341"/>
            <a:ext cx="1188720" cy="2338578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94192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42544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Garnet n=8
(3 runs)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0.222–0.231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432630"/>
            <a:ext cx="1188720" cy="2642289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3808" y="3079699"/>
            <a:ext cx="1316736" cy="219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66376" y="212173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E86A6A"/>
                </a:solidFill>
                <a:latin typeface="Calibri"/>
              </a:rPr>
              <a:t>0.261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5148072"/>
            <a:ext cx="15179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A9B4C8"/>
                </a:solidFill>
                <a:latin typeface="Calibri"/>
              </a:rPr>
              <a:t>Rigetti n=8
(2 runs)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93224" y="5641848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0.223–0.261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1655064"/>
            <a:ext cx="219456" cy="146304"/>
          </a:xfrm>
          <a:prstGeom prst="rect">
            <a:avLst/>
          </a:prstGeom>
          <a:solidFill>
            <a:srgbClr val="57C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58784" y="159105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signal-bearing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1655064"/>
            <a:ext cx="219456" cy="146304"/>
          </a:xfrm>
          <a:prstGeom prst="rect">
            <a:avLst/>
          </a:prstGeom>
          <a:solidFill>
            <a:srgbClr val="E8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87584" y="1591056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scrambled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1929384"/>
            <a:ext cx="219456" cy="320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1819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size-matched depolarized limit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Bars: raw feature error vs the exact simulation (4,000 shots; IonQ 500). Below the white tick, the device retains the circuit's signal; above it, the output is statistically indistinguishable from a fully scrambled state. Every verdict sits 9.7–24σ from its tick.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WHY THESE RESULTS SURVIVE HOSTILE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We bought controls — and refuted our own predictions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Same-session anchor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1901952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n=8 and n=12 interleaved on one chip, matching calibration fingerprints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901952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size effect is real — day-drift excluded by a decision rule committed before the data existed.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36391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300984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57C88B"/>
                </a:solidFill>
                <a:latin typeface="Calibri"/>
              </a:rPr>
              <a:t>Same-window two-chip 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300984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Garnet and Emerald on the clock simultaneously, first jobs the same second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00984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The generation effect is temporally controlled: newer chip signal-bearing at the size the older one scrambles.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0016"/>
            <a:ext cx="283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500" b="1">
                <a:solidFill>
                  <a:srgbClr val="EEB24C"/>
                </a:solidFill>
                <a:latin typeface="Calibri"/>
              </a:rPr>
              <a:t>4k-shot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4700016"/>
            <a:ext cx="37490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Rigetti re-run at double shots on a second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4700016"/>
            <a:ext cx="35204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Day-scale drift measured (~0.04) — larger than shot noise; regime claims, not point values, are the currency.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61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Scorecard of our own pre-registered statements:  </a:t>
            </a:r>
            <a:r>
              <a:rPr sz="1250" b="1">
                <a:solidFill>
                  <a:srgbClr val="FFFFFF"/>
                </a:solidFill>
                <a:latin typeface="Calibri"/>
              </a:rPr>
              <a:t>S1 refuted · S2 refuted · S3b refuted high · S4 held</a:t>
            </a:r>
            <a:r>
              <a:rPr sz="1250" b="0">
                <a:solidFill>
                  <a:srgbClr val="A9B4C8"/>
                </a:solidFill>
                <a:latin typeface="Calibri"/>
              </a:rPr>
              <a:t> — three of four falsified by our own controlled measurements, committed first, reported as measured.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WHAT THIS MEANS COMMERCIALLY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Five implications a board can act 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37944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810512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No quantum spend on volatility forecasting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10512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Parity, never advantage, across crisis and calm — the avoided-cost result, in writing, with receipts.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24328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770632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Efficiency is a negative too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43200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On like-for-like accuracy (lower-is-better RMSE), the quantum reservoir saturates worst. Parity is the only surviving edge.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57016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703320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675888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The readiness buffer just shrank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75888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Signal-bearing execution arrived on three devices, years before our own measured baseline implied. Move from ignore to monitor.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89704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36008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08576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Spec-sheet procurement is falsified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4608576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Gate-count heuristics failed on real metal — instance and embedding dominate. Qualify hardware per workload, empirically.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22392"/>
            <a:ext cx="11064240" cy="841248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568696"/>
            <a:ext cx="685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4FD8EA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5541264"/>
            <a:ext cx="420624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Certainty is the product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541264"/>
            <a:ext cx="52578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 pre-registered audit converts hype into policy at a known, small cost — and it is repeatable on demand.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AUDIT MACHINERY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Trust is engineered, not asserted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Pre-register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Predictions, budgets, abort and decision rules committed to the repo before execution — amendments timestamped per campaign.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21608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Tag every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Each QPU job embeds the repo commit hash in qBraid's records: a hash-preimage proof that predictions predate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37376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Audit every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5976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≈64k credits across 10 funded campaigns, each billed exactly to estimate; organizer-grade ledger with per-job IDs.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81744" y="1783080"/>
            <a:ext cx="2697480" cy="301752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0344" y="201168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4FD8EA"/>
                </a:solidFill>
                <a:latin typeface="Courier New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10344" y="26060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Re-derive everything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0344" y="3200400"/>
            <a:ext cx="2240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Bootstrap from committed raw counts reproduces every published number and quantifies every claim (9.7–24σ).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0749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257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A9B4C8"/>
                </a:solidFill>
                <a:latin typeface="Calibri"/>
              </a:rPr>
              <a:t>Side effect of auditing the platform this hard: </a:t>
            </a:r>
            <a:r>
              <a:rPr sz="1250" b="1">
                <a:solidFill>
                  <a:srgbClr val="FFFFFF"/>
                </a:solidFill>
                <a:latin typeface="Calibri"/>
              </a:rPr>
              <a:t>three platform-level findings responsibly disclosed to qBraid</a:t>
            </a:r>
            <a:r>
              <a:rPr sz="1250" b="0">
                <a:solidFill>
                  <a:srgbClr val="A9B4C8"/>
                </a:solidFill>
                <a:latin typeface="Calibri"/>
              </a:rPr>
              <a:t> (silent negative-angle gate loss; a simulator anomaly; a billing-context fallback) — finding 3 not yet vendor-confirmed and labeled as our reconstruction. The audit made the ecosystem better while competing on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COMMITTED NEXT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Pre-registered research · commercial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PRE-REGISTERED, FALSIFIABLE, COSTED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77440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Hardware-in-the-loop forecast on the signal-bearing Emerald — degradation band computed before any run; 'does not beat HAR-X'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1129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511296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Hardware-native dissipative reservoirs — the simulation's +60% autonomous-VPT mechanism, tested where damping is free.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4515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4FD8EA"/>
                </a:solidFill>
                <a:latin typeface="Courier New"/>
              </a:rPr>
              <a:t>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645152"/>
            <a:ext cx="4114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Mechanism isolation: same instance, permuted embedding, one session — embedding vs instance, falsifiable both ways.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34924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COMMERCIAL LADDER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774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Audit-as-a-service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Vendor-neutral hardware qualification for a named workload — the rigged-to-be-honest exam, priced per campaign.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51129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Tripwire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858768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Annual re-run of the sentinel harness: a few thousand credits to know when the answer changes.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64515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Qualification consulting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92624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Spec sheets demonstrably mislead; per-workload empirical qualification is now the defensible standard.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COMMERCIAL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Audit-as-a-Service — the pre-registered 'can this QPU run my workload?' exam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457200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THE OFFERING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77440"/>
            <a:ext cx="4023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wedge — answered with receipts: does a given QPU retain signal on a client's OWN circuit, before they commit budget?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pre-registered predictions + decision rules, committed before any run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controlled measurement across vendors (same-session / same-window)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a report of what each QPU can and cannot do — every number re-derivable from raw data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A9B4C8"/>
                </a:solidFill>
                <a:latin typeface="Calibri"/>
              </a:rPr>
              <a:t>• proof it works: our own program qualified 4 configs signal-bearing, 2 scrambled — on the SAME circuit; a ~$70 single-device test that pre-empts a six-figure wrong build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737360"/>
            <a:ext cx="3108960" cy="4206240"/>
          </a:xfrm>
          <a:prstGeom prst="roundRect">
            <a:avLst>
              <a:gd name="adj" fmla="val 6000"/>
            </a:avLst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9659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EEB24C"/>
                </a:solidFill>
                <a:latin typeface="Calibri"/>
              </a:rPr>
              <a:t>COST BASIS (MEASURED)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395728"/>
            <a:ext cx="26974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Single-device qualification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~6,800 credits (~$70 QPU) → one report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Multi-vendor program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~64k credits (~$640 QPU) → 4 devices, controlled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These are our actual measured QPU costs (CREDIT_BUDGET.md).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0" i="1">
                <a:solidFill>
                  <a:srgbClr val="6E7A90"/>
                </a:solidFill>
                <a:latin typeface="Calibri"/>
              </a:rPr>
              <a:t>Service fee is set per engagement; the value is the method + analysis, not the compute.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737360"/>
            <a:ext cx="3017520" cy="4206240"/>
          </a:xfrm>
          <a:prstGeom prst="roundRect">
            <a:avLst>
              <a:gd name="adj" fmla="val 6000"/>
            </a:avLst>
          </a:prstGeom>
          <a:solidFill>
            <a:srgbClr val="12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196596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4FD8EA"/>
                </a:solidFill>
                <a:latin typeface="Calibri"/>
              </a:rPr>
              <a:t>WHO BUYS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60" y="2395728"/>
            <a:ext cx="26060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BEACHHEAD — a buy-side risk / quant desk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about to fund a quantum pilot: we tell them which device (if any) survives THEIR circuit — before they build.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50" b="1">
                <a:solidFill>
                  <a:srgbClr val="A9B4C8"/>
                </a:solidFill>
                <a:latin typeface="Calibri"/>
              </a:rPr>
              <a:t>EXPANSION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A9B4C8"/>
                </a:solidFill>
                <a:latin typeface="Calibri"/>
              </a:rPr>
              <a:t>Hardware vendors (independent benchmarks) · CTO quantum-readiness diligence · public-sector assurance.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1">
                <a:solidFill>
                  <a:srgbClr val="EEB24C"/>
                </a:solidFill>
                <a:latin typeface="Calibri"/>
              </a:rPr>
              <a:t>Honesty note: segments are target profiles, not signed customers. </a:t>
            </a:r>
            <a:r>
              <a:rPr sz="1100" b="0" i="1">
                <a:solidFill>
                  <a:srgbClr val="A9B4C8"/>
                </a:solidFill>
                <a:latin typeface="Calibri"/>
              </a:rPr>
              <a:t>Pilot LOIs are to be secured — none are claimed here.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0E1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Truth, timed and priced.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A9B4C8"/>
                </a:solidFill>
                <a:latin typeface="Calibri"/>
              </a:rPr>
              <a:t>An honest negative, a controlled surprise, and the machinery to keep both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Team EIGENNEXUS — Christian Metzl · Fares Eldibani · Juan Manuel Aguiar Hualde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>
                <a:solidFill>
                  <a:srgbClr val="A9B4C8"/>
                </a:solidFill>
                <a:latin typeface="Calibri"/>
              </a:rPr>
              <a:t>Full evidence: submission repository (paper, findings, ledgers, job IDs, reproduction in one command).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0" i="1">
                <a:solidFill>
                  <a:srgbClr val="6E7A90"/>
                </a:solidFill>
                <a:latin typeface="Calibri"/>
              </a:rPr>
              <a:t>Every claim in this deck is committed, timestamped, and re-derivable from raw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EIGENNEXUS  ·  CHIMERA-QRC  ·  GIC 2026 Track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6E7A90"/>
                </a:solidFill>
                <a:latin typeface="Calibri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