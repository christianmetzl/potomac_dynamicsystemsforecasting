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0E15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4FD8EA"/>
                </a:solidFill>
                <a:latin typeface="Calibri"/>
              </a:rPr>
              <a:t>TEAM EIGENNEXUS  ·  GLOBAL INDUSTRY CHALLENGE 2026  ·  QBRAID × MITRE × JONESTRADING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105156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5400" b="1">
                <a:solidFill>
                  <a:srgbClr val="FFFFFF"/>
                </a:solidFill>
                <a:latin typeface="Calibri"/>
              </a:rPr>
              <a:t>CHIMERA-QRC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3000" b="0">
                <a:solidFill>
                  <a:srgbClr val="A9B4C8"/>
                </a:solidFill>
                <a:latin typeface="Calibri"/>
              </a:rPr>
              <a:t>The Honest Quantum Audit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>
                <a:solidFill>
                  <a:srgbClr val="A9B4C8"/>
                </a:solidFill>
                <a:latin typeface="Calibri"/>
              </a:rPr>
              <a:t>Quantum reservoir computing for financial volatility — Track A.  </a:t>
            </a:r>
            <a:r>
              <a:rPr sz="1500" b="1">
                <a:solidFill>
                  <a:srgbClr val="FFFFFF"/>
                </a:solidFill>
                <a:latin typeface="Calibri"/>
              </a:rPr>
              <a:t>Ten QPU campaigns · three vendors · four devices · every claim controlled.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69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A9B4C8"/>
                </a:solidFill>
                <a:latin typeface="Calibri"/>
              </a:rPr>
              <a:t>Christian Metzl (Lead / Architect)   ·   Fares Eldibani (Data Science)   ·   Juan Manuel Aguiar Hualde (PhD Physics)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1">
                <a:solidFill>
                  <a:srgbClr val="6E7A90"/>
                </a:solidFill>
                <a:latin typeface="Calibri"/>
              </a:rPr>
              <a:t>Every number in this deck traces to a committed artifact and a platform-timestamped job record.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D8EA"/>
                </a:solidFill>
                <a:latin typeface="Calibri"/>
              </a:rPr>
              <a:t>THE INSTRUMENT FIRST, THEN THE VERDICT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What we built — and what it proves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3566160" cy="420624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011680"/>
            <a:ext cx="3017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000" b="1">
                <a:solidFill>
                  <a:srgbClr val="4FD8EA"/>
                </a:solidFill>
                <a:latin typeface="Calibri"/>
              </a:rPr>
              <a:t>1 command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880360"/>
            <a:ext cx="30175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reproduces the entire audit — offline, no credits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611880"/>
            <a:ext cx="301752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A9B4C8"/>
                </a:solidFill>
                <a:latin typeface="Calibri"/>
              </a:rPr>
              <a:t>A pre-registered instrument: engine tests + hardware bootstrap + noise fingerprint, re-run in ~2 minutes with the network cut. Every hardware prediction was hash-committed to a prior commit before the data existed. This machine — not any single number — is the durable asset.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691640"/>
            <a:ext cx="3566160" cy="420624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2011680"/>
            <a:ext cx="3017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000" b="1">
                <a:solidFill>
                  <a:srgbClr val="57C88B"/>
                </a:solidFill>
                <a:latin typeface="Calibri"/>
              </a:rPr>
              <a:t>3 devices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880360"/>
            <a:ext cx="30175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retained quantum signal on real hardware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611880"/>
            <a:ext cx="301752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A9B4C8"/>
                </a:solidFill>
                <a:latin typeface="Calibri"/>
              </a:rPr>
              <a:t>Trapped-ion (IonQ) and two superconducting chips (IQM Garnet at n=10/12, IQM Emerald) executed our reservoir with signal intact — each verdict 9.7–23.9σ beyond shot noise, refuting our own pre-registered predictions under controls. Billing audited to the half-credit across ≈64k credits.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691640"/>
            <a:ext cx="3566160" cy="420624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2011680"/>
            <a:ext cx="3017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000" b="1">
                <a:solidFill>
                  <a:srgbClr val="EEB24C"/>
                </a:solidFill>
                <a:latin typeface="Calibri"/>
              </a:rPr>
              <a:t>$0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880360"/>
            <a:ext cx="30175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of quantum advantage for vol-forecasting today — proven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611880"/>
            <a:ext cx="301752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A9B4C8"/>
                </a:solidFill>
                <a:latin typeface="Calibri"/>
              </a:rPr>
              <a:t>Across every fair, pre-registered test a plain classical formula (HAR-X) still wins: parity at best, never advantage — the avoided-cost result your risk committee needs in writing, with receipts.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05332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1">
                <a:solidFill>
                  <a:srgbClr val="A9B4C8"/>
                </a:solidFill>
                <a:latin typeface="Calibri"/>
              </a:rPr>
              <a:t>The differentiator is not a claim — it is the audit machinery that makes every claim checkable.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EIGENNEXUS  ·  CHIMERA-QRC  ·  GIC 2026 Track 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64240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02 / 09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D8EA"/>
                </a:solidFill>
                <a:latin typeface="Calibri"/>
              </a:rPr>
              <a:t>TEN CAMPAIGNS, ONE PICTURE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The coherence wall, measured from both sides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4022053"/>
            <a:ext cx="1188720" cy="1052866"/>
          </a:xfrm>
          <a:prstGeom prst="rect">
            <a:avLst/>
          </a:prstGeom>
          <a:solidFill>
            <a:srgbClr val="57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96112" y="3079699"/>
            <a:ext cx="1316736" cy="2194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711157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57C88B"/>
                </a:solidFill>
                <a:latin typeface="Calibri"/>
              </a:rPr>
              <a:t>0.104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5148072"/>
            <a:ext cx="151790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A9B4C8"/>
                </a:solidFill>
                <a:latin typeface="Calibri"/>
              </a:rPr>
              <a:t>IonQ Forte-1
n=8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5641848"/>
            <a:ext cx="15179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ion, 500 shots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59736" y="3465249"/>
            <a:ext cx="1188720" cy="1609670"/>
          </a:xfrm>
          <a:prstGeom prst="rect">
            <a:avLst/>
          </a:prstGeom>
          <a:solidFill>
            <a:srgbClr val="57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395728" y="3251802"/>
            <a:ext cx="1316736" cy="2194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68296" y="3154353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57C88B"/>
                </a:solidFill>
                <a:latin typeface="Calibri"/>
              </a:rPr>
              <a:t>0.159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95144" y="5148072"/>
            <a:ext cx="151790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A9B4C8"/>
                </a:solidFill>
                <a:latin typeface="Calibri"/>
              </a:rPr>
              <a:t>Garnet
n=10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59352" y="3364012"/>
            <a:ext cx="1188720" cy="1710907"/>
          </a:xfrm>
          <a:prstGeom prst="rect">
            <a:avLst/>
          </a:prstGeom>
          <a:solidFill>
            <a:srgbClr val="57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895344" y="3079699"/>
            <a:ext cx="1316736" cy="2194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67912" y="305311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57C88B"/>
                </a:solidFill>
                <a:latin typeface="Calibri"/>
              </a:rPr>
              <a:t>0.169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4760" y="5148072"/>
            <a:ext cx="151790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A9B4C8"/>
                </a:solidFill>
                <a:latin typeface="Calibri"/>
              </a:rPr>
              <a:t>Emerald n=8
same-window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58968" y="3262775"/>
            <a:ext cx="1188720" cy="1812144"/>
          </a:xfrm>
          <a:prstGeom prst="rect">
            <a:avLst/>
          </a:prstGeom>
          <a:solidFill>
            <a:srgbClr val="57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94959" y="3079699"/>
            <a:ext cx="1316736" cy="2194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67528" y="2951879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57C88B"/>
                </a:solidFill>
                <a:latin typeface="Calibri"/>
              </a:rPr>
              <a:t>0.179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94376" y="5148072"/>
            <a:ext cx="151790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A9B4C8"/>
                </a:solidFill>
                <a:latin typeface="Calibri"/>
              </a:rPr>
              <a:t>Emerald
n=8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58584" y="3151414"/>
            <a:ext cx="1188720" cy="1923505"/>
          </a:xfrm>
          <a:prstGeom prst="rect">
            <a:avLst/>
          </a:prstGeom>
          <a:solidFill>
            <a:srgbClr val="57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94576" y="2897472"/>
            <a:ext cx="1316736" cy="2194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67144" y="284051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57C88B"/>
                </a:solidFill>
                <a:latin typeface="Calibri"/>
              </a:rPr>
              <a:t>0.190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93992" y="5148072"/>
            <a:ext cx="151790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A9B4C8"/>
                </a:solidFill>
                <a:latin typeface="Calibri"/>
              </a:rPr>
              <a:t>Garnet
n=12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58200" y="2736341"/>
            <a:ext cx="1188720" cy="2338578"/>
          </a:xfrm>
          <a:prstGeom prst="rect">
            <a:avLst/>
          </a:prstGeom>
          <a:solidFill>
            <a:srgbClr val="E8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394192" y="3079699"/>
            <a:ext cx="1316736" cy="2194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66760" y="242544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E86A6A"/>
                </a:solidFill>
                <a:latin typeface="Calibri"/>
              </a:rPr>
              <a:t>0.231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93608" y="5148072"/>
            <a:ext cx="151790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A9B4C8"/>
                </a:solidFill>
                <a:latin typeface="Calibri"/>
              </a:rPr>
              <a:t>Garnet n=8
seed-0 (4 runs)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93608" y="5641848"/>
            <a:ext cx="15179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0.222–0.231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957816" y="2432630"/>
            <a:ext cx="1188720" cy="2642289"/>
          </a:xfrm>
          <a:prstGeom prst="rect">
            <a:avLst/>
          </a:prstGeom>
          <a:solidFill>
            <a:srgbClr val="E8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893808" y="3079699"/>
            <a:ext cx="1316736" cy="2194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66376" y="212173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E86A6A"/>
                </a:solidFill>
                <a:latin typeface="Calibri"/>
              </a:rPr>
              <a:t>0.261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93224" y="5148072"/>
            <a:ext cx="151790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A9B4C8"/>
                </a:solidFill>
                <a:latin typeface="Calibri"/>
              </a:rPr>
              <a:t>Rigetti n=8
(2 runs)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93224" y="5641848"/>
            <a:ext cx="15179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0.223–0.261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75320" y="1655064"/>
            <a:ext cx="219456" cy="146304"/>
          </a:xfrm>
          <a:prstGeom prst="rect">
            <a:avLst/>
          </a:prstGeom>
          <a:solidFill>
            <a:srgbClr val="57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58784" y="1591056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A9B4C8"/>
                </a:solidFill>
                <a:latin typeface="Calibri"/>
              </a:rPr>
              <a:t>signal-bearing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20" y="1655064"/>
            <a:ext cx="219456" cy="146304"/>
          </a:xfrm>
          <a:prstGeom prst="rect">
            <a:avLst/>
          </a:prstGeom>
          <a:solidFill>
            <a:srgbClr val="E8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387584" y="1591056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A9B4C8"/>
                </a:solidFill>
                <a:latin typeface="Calibri"/>
              </a:rPr>
              <a:t>scrambled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75320" y="1929384"/>
            <a:ext cx="219456" cy="320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58784" y="1819656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A9B4C8"/>
                </a:solidFill>
                <a:latin typeface="Calibri"/>
              </a:rPr>
              <a:t>size-matched depolarized limit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5897880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Bars: raw feature error vs the exact simulation (4,000 shots; IonQ 500). Below the white tick, the device retains the circuit's signal; above it, the output is statistically indistinguishable from a fully scrambled state. Every verdict sits 9.7–23.9σ from its tick.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EIGENNEXUS  ·  CHIMERA-QRC  ·  GIC 2026 Track 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064240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03 / 09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D8EA"/>
                </a:solidFill>
                <a:latin typeface="Calibri"/>
              </a:rPr>
              <a:t>WHY THESE RESULTS SURVIVE HOSTILE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We bought controls — and refuted our own predictions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11064240" cy="123444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01952"/>
            <a:ext cx="2834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500" b="1">
                <a:solidFill>
                  <a:srgbClr val="57C88B"/>
                </a:solidFill>
                <a:latin typeface="Calibri"/>
              </a:rPr>
              <a:t>Same-session anchor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86200" y="1901952"/>
            <a:ext cx="3749039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00" b="0">
                <a:solidFill>
                  <a:srgbClr val="A9B4C8"/>
                </a:solidFill>
                <a:latin typeface="Calibri"/>
              </a:rPr>
              <a:t>n=8 and n=12 interleaved on one chip, matching calibration fingerprints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1901952"/>
            <a:ext cx="352044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The size effect is real — day-drift excluded by a decision rule committed before the data existed.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136391"/>
            <a:ext cx="11064240" cy="123444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300984"/>
            <a:ext cx="2834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500" b="1">
                <a:solidFill>
                  <a:srgbClr val="57C88B"/>
                </a:solidFill>
                <a:latin typeface="Calibri"/>
              </a:rPr>
              <a:t>Same-window two-chip pair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86200" y="3300984"/>
            <a:ext cx="3749039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00" b="0">
                <a:solidFill>
                  <a:srgbClr val="A9B4C8"/>
                </a:solidFill>
                <a:latin typeface="Calibri"/>
              </a:rPr>
              <a:t>Garnet and Emerald on the clock simultaneously, first jobs the same second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3300984"/>
            <a:ext cx="352044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The generation effect is temporally controlled: newer chip signal-bearing at the size the older one scrambles.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535424"/>
            <a:ext cx="11064240" cy="123444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700016"/>
            <a:ext cx="2834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500" b="1">
                <a:solidFill>
                  <a:srgbClr val="EEB24C"/>
                </a:solidFill>
                <a:latin typeface="Calibri"/>
              </a:rPr>
              <a:t>4k-shot replication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86200" y="4700016"/>
            <a:ext cx="3749039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00" b="0">
                <a:solidFill>
                  <a:srgbClr val="A9B4C8"/>
                </a:solidFill>
                <a:latin typeface="Calibri"/>
              </a:rPr>
              <a:t>Rigetti re-run at double shots on a second day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4700016"/>
            <a:ext cx="352044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Day-scale drift measured (~0.04) — larger than shot noise; regime claims, not point values, are the currency.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61888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>
                <a:solidFill>
                  <a:srgbClr val="A9B4C8"/>
                </a:solidFill>
                <a:latin typeface="Calibri"/>
              </a:rPr>
              <a:t>Scorecard of our own pre-registered statements:  </a:t>
            </a:r>
            <a:r>
              <a:rPr sz="1250" b="1">
                <a:solidFill>
                  <a:srgbClr val="FFFFFF"/>
                </a:solidFill>
                <a:latin typeface="Calibri"/>
              </a:rPr>
              <a:t>S1 · S2 · S3b refuted · S7 cross-seed refuted · S4 held</a:t>
            </a:r>
            <a:r>
              <a:rPr sz="1250" b="0">
                <a:solidFill>
                  <a:srgbClr val="A9B4C8"/>
                </a:solidFill>
                <a:latin typeface="Calibri"/>
              </a:rPr>
              <a:t> — four of our own pre-registered predictions falsified by controlled measurement, committed first, reported as measured.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EIGENNEXUS  ·  CHIMERA-QRC  ·  GIC 2026 Track 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64240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04 / 09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D8EA"/>
                </a:solidFill>
                <a:latin typeface="Calibri"/>
              </a:rPr>
              <a:t>WHAT THIS MEANS COMMERCIALLY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Five implications a board can act 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11064240" cy="841248"/>
          </a:xfrm>
          <a:prstGeom prst="roundRect">
            <a:avLst>
              <a:gd name="adj" fmla="val 6000"/>
            </a:avLst>
          </a:prstGeom>
          <a:solidFill>
            <a:srgbClr val="0E15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837944"/>
            <a:ext cx="685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>
                <a:solidFill>
                  <a:srgbClr val="4FD8EA"/>
                </a:solidFill>
                <a:latin typeface="Courier New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1810512"/>
            <a:ext cx="42062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Calibri"/>
              </a:rPr>
              <a:t>No quantum spend on volatility forecasting 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80760" y="1810512"/>
            <a:ext cx="52578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Parity, never advantage, across crisis and calm — the avoided-cost result, in writing, with receipts.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24328"/>
            <a:ext cx="11064240" cy="841248"/>
          </a:xfrm>
          <a:prstGeom prst="roundRect">
            <a:avLst>
              <a:gd name="adj" fmla="val 6000"/>
            </a:avLst>
          </a:prstGeom>
          <a:solidFill>
            <a:srgbClr val="0E15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2770632"/>
            <a:ext cx="685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>
                <a:solidFill>
                  <a:srgbClr val="4FD8EA"/>
                </a:solidFill>
                <a:latin typeface="Courier New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2743200"/>
            <a:ext cx="42062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Calibri"/>
              </a:rPr>
              <a:t>Efficiency is a negative too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2743200"/>
            <a:ext cx="52578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On like-for-like accuracy (lower-is-better RMSE), the quantum reservoir saturates worst. Parity is the only surviving edge.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557016"/>
            <a:ext cx="11064240" cy="841248"/>
          </a:xfrm>
          <a:prstGeom prst="roundRect">
            <a:avLst>
              <a:gd name="adj" fmla="val 6000"/>
            </a:avLst>
          </a:prstGeom>
          <a:solidFill>
            <a:srgbClr val="0E15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3703320"/>
            <a:ext cx="685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>
                <a:solidFill>
                  <a:srgbClr val="4FD8EA"/>
                </a:solidFill>
                <a:latin typeface="Courier New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675888"/>
            <a:ext cx="42062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Calibri"/>
              </a:rPr>
              <a:t>The readiness buffer just shrank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0760" y="3675888"/>
            <a:ext cx="52578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Signal-bearing execution arrived on three devices, years before our own measured baseline implied. Move from ignore to monitor.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489704"/>
            <a:ext cx="11064240" cy="841248"/>
          </a:xfrm>
          <a:prstGeom prst="roundRect">
            <a:avLst>
              <a:gd name="adj" fmla="val 6000"/>
            </a:avLst>
          </a:prstGeom>
          <a:solidFill>
            <a:srgbClr val="0E15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4636008"/>
            <a:ext cx="685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>
                <a:solidFill>
                  <a:srgbClr val="4FD8EA"/>
                </a:solidFill>
                <a:latin typeface="Courier New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608576"/>
            <a:ext cx="42062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Calibri"/>
              </a:rPr>
              <a:t>Spec-sheet procurement is falsified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0760" y="4608576"/>
            <a:ext cx="52578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Gate-count heuristics failed on real metal — instance and embedding dominate. Qualify hardware per workload, empirically.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422392"/>
            <a:ext cx="11064240" cy="841248"/>
          </a:xfrm>
          <a:prstGeom prst="roundRect">
            <a:avLst>
              <a:gd name="adj" fmla="val 6000"/>
            </a:avLst>
          </a:prstGeom>
          <a:solidFill>
            <a:srgbClr val="0E15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5568696"/>
            <a:ext cx="685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>
                <a:solidFill>
                  <a:srgbClr val="4FD8EA"/>
                </a:solidFill>
                <a:latin typeface="Courier New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91640" y="5541264"/>
            <a:ext cx="42062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Calibri"/>
              </a:rPr>
              <a:t>Certainty is the product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0760" y="5541264"/>
            <a:ext cx="52578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A pre-registered audit converts hype into policy at a known, small cost — and it is repeatable on demand.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EIGENNEXUS  ·  CHIMERA-QRC  ·  GIC 2026 Track 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64240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05 / 09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D8EA"/>
                </a:solidFill>
                <a:latin typeface="Calibri"/>
              </a:rPr>
              <a:t>THE AUDIT MACHINERY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Trust is engineered, not asserted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2697480" cy="301752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011680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4FD8EA"/>
                </a:solidFill>
                <a:latin typeface="Courier New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0604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Pre-register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00400"/>
            <a:ext cx="22402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Predictions, budgets, abort and decision rules committed to the repo before execution — amendments timestamped per campaign.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93008" y="1783080"/>
            <a:ext cx="2697480" cy="301752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21608" y="2011680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4FD8EA"/>
                </a:solidFill>
                <a:latin typeface="Courier New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21608" y="260604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Tag every job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21608" y="3200400"/>
            <a:ext cx="22402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Each QPU job embeds the repo commit hash in qBraid's records: a hash-preimage proof that predictions predate data.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37376" y="1783080"/>
            <a:ext cx="2697480" cy="301752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65976" y="2011680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4FD8EA"/>
                </a:solidFill>
                <a:latin typeface="Courier New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5976" y="260604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Audit every credit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65976" y="3200400"/>
            <a:ext cx="22402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≈64k credits across 10 funded campaigns, each billed exactly to estimate; organizer-grade ledger with per-job IDs.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81744" y="1783080"/>
            <a:ext cx="2697480" cy="301752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10344" y="2011680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4FD8EA"/>
                </a:solidFill>
                <a:latin typeface="Courier New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10344" y="260604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Re-derive everything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10344" y="3200400"/>
            <a:ext cx="22402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Bootstrap from committed raw counts reproduces every published number and quantifies every claim (9.7–23.9σ).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074920"/>
            <a:ext cx="11064240" cy="1051560"/>
          </a:xfrm>
          <a:prstGeom prst="roundRect">
            <a:avLst>
              <a:gd name="adj" fmla="val 6000"/>
            </a:avLst>
          </a:prstGeom>
          <a:solidFill>
            <a:srgbClr val="0E15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525780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A9B4C8"/>
                </a:solidFill>
                <a:latin typeface="Calibri"/>
              </a:rPr>
              <a:t>Side effect of auditing the platform this hard: </a:t>
            </a:r>
            <a:r>
              <a:rPr sz="1250" b="1">
                <a:solidFill>
                  <a:srgbClr val="FFFFFF"/>
                </a:solidFill>
                <a:latin typeface="Calibri"/>
              </a:rPr>
              <a:t>three platform-level findings responsibly disclosed to qBraid</a:t>
            </a:r>
            <a:r>
              <a:rPr sz="1250" b="0">
                <a:solidFill>
                  <a:srgbClr val="A9B4C8"/>
                </a:solidFill>
                <a:latin typeface="Calibri"/>
              </a:rPr>
              <a:t> (silent negative-angle gate loss; a simulator anomaly; a billing-context fallback) — finding 3 not yet vendor-confirmed and labeled as our reconstruction. The audit made the ecosystem better while competing on it.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EIGENNEXUS  ·  CHIMERA-QRC  ·  GIC 2026 Track 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64240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06 / 09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D8EA"/>
                </a:solidFill>
                <a:latin typeface="Calibri"/>
              </a:rPr>
              <a:t>COMMITTED NEXT CHAPTER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Pre-registered research · commercial ladder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94960" cy="420624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65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D8EA"/>
                </a:solidFill>
                <a:latin typeface="Calibri"/>
              </a:rPr>
              <a:t>PRE-REGISTERED, FALSIFIABLE, COSTED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37744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4FD8EA"/>
                </a:solidFill>
                <a:latin typeface="Courier New"/>
              </a:rPr>
              <a:t>S5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377440"/>
            <a:ext cx="4114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A9B4C8"/>
                </a:solidFill>
                <a:latin typeface="Calibri"/>
              </a:rPr>
              <a:t>Hardware-in-the-loop forecast on the signal-bearing Emerald — degradation band computed before any run; 'does not beat HAR-X' committed.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51129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4FD8EA"/>
                </a:solidFill>
                <a:latin typeface="Courier New"/>
              </a:rPr>
              <a:t>S6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3511296"/>
            <a:ext cx="4114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A9B4C8"/>
                </a:solidFill>
                <a:latin typeface="Calibri"/>
              </a:rPr>
              <a:t>Hardware-native dissipative reservoirs — the simulation's +60% autonomous-VPT mechanism, tested where damping is free.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45152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4FD8EA"/>
                </a:solidFill>
                <a:latin typeface="Courier New"/>
              </a:rPr>
              <a:t>S7 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4645152"/>
            <a:ext cx="4114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A9B4C8"/>
                </a:solidFill>
                <a:latin typeface="Calibri"/>
              </a:rPr>
              <a:t>EXECUTED (cross-seed control): an independent seed-1 n=8 instance is signal-bearing while seed-0 scrambles — refutes a size law (in the paper). The embedding arm (H-EMBED) remains pre-registered for future work.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737360"/>
            <a:ext cx="5349240" cy="420624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965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EEB24C"/>
                </a:solidFill>
                <a:latin typeface="Calibri"/>
              </a:rPr>
              <a:t>COMMERCIAL LADDER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377440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Calibri"/>
              </a:rPr>
              <a:t>Audit-as-a-service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724912"/>
            <a:ext cx="47548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Vendor-neutral hardware qualification for a named workload — the rigged-to-be-honest exam, priced per campaign.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511296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Calibri"/>
              </a:rPr>
              <a:t>Tripwire monitoring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858768"/>
            <a:ext cx="47548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Annual re-run of the sentinel harness: a few thousand credits to know when the answer changes.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645152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Calibri"/>
              </a:rPr>
              <a:t>Qualification consulting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4992624"/>
            <a:ext cx="47548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Spec sheets demonstrably mislead; per-workload empirical qualification is now the defensible standard.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EIGENNEXUS  ·  CHIMERA-QRC  ·  GIC 2026 Track 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64240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07 / 09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D8EA"/>
                </a:solidFill>
                <a:latin typeface="Calibri"/>
              </a:rPr>
              <a:t>THE COMMERCIAL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We sell trust in a quantum yes/no — proven by an instrument that falsifies itself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4572000" cy="420624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965960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D8EA"/>
                </a:solidFill>
                <a:latin typeface="Calibri"/>
              </a:rPr>
              <a:t>THE OFFERING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377440"/>
            <a:ext cx="402336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What the client buys is a trustworthy yes/no: does a given QPU retain signal on their OWN circuit, before they commit budget? — credible because the same instrument publishes negatives about itself.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 b="0">
                <a:solidFill>
                  <a:srgbClr val="A9B4C8"/>
                </a:solidFill>
                <a:latin typeface="Calibri"/>
              </a:rPr>
              <a:t>• pre-registered predictions + decision rules, committed before any run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 b="0">
                <a:solidFill>
                  <a:srgbClr val="A9B4C8"/>
                </a:solidFill>
                <a:latin typeface="Calibri"/>
              </a:rPr>
              <a:t>• controlled measurement across vendors (same-session / same-window)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 b="0">
                <a:solidFill>
                  <a:srgbClr val="A9B4C8"/>
                </a:solidFill>
                <a:latin typeface="Calibri"/>
              </a:rPr>
              <a:t>• a report of what each QPU can and cannot do — every number re-derivable from raw data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 b="0">
                <a:solidFill>
                  <a:srgbClr val="A9B4C8"/>
                </a:solidFill>
                <a:latin typeface="Calibri"/>
              </a:rPr>
              <a:t>• proof it works: our own program qualified 4 configs signal-bearing, 2 scrambled — on the SAME circuit; a ~$70 single-device test that pre-empts a six-figure wrong build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0" y="1737360"/>
            <a:ext cx="3108960" cy="4206240"/>
          </a:xfrm>
          <a:prstGeom prst="roundRect">
            <a:avLst>
              <a:gd name="adj" fmla="val 6000"/>
            </a:avLst>
          </a:prstGeom>
          <a:solidFill>
            <a:srgbClr val="0E15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32120" y="196596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EEB24C"/>
                </a:solidFill>
                <a:latin typeface="Calibri"/>
              </a:rPr>
              <a:t>COST BASIS (MEASURED)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2120" y="2395728"/>
            <a:ext cx="26974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Single-device qualification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00" b="0">
                <a:solidFill>
                  <a:srgbClr val="A9B4C8"/>
                </a:solidFill>
                <a:latin typeface="Calibri"/>
              </a:rPr>
              <a:t>~6,800 credits (~$70 QPU) → one report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Multi-vendor program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00" b="0">
                <a:solidFill>
                  <a:srgbClr val="A9B4C8"/>
                </a:solidFill>
                <a:latin typeface="Calibri"/>
              </a:rPr>
              <a:t>~64k credits (~$640 QPU) → 4 devices, controlled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050" b="0" i="1">
                <a:solidFill>
                  <a:srgbClr val="6E7A90"/>
                </a:solidFill>
                <a:latin typeface="Calibri"/>
              </a:rPr>
              <a:t>These are our actual measured QPU costs (CREDIT_BUDGET.md).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050" b="0" i="1">
                <a:solidFill>
                  <a:srgbClr val="6E7A90"/>
                </a:solidFill>
                <a:latin typeface="Calibri"/>
              </a:rPr>
              <a:t>Service fee is set per engagement; the value is the method + analysis, not the compute.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95360" y="1737360"/>
            <a:ext cx="3017520" cy="420624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23960" y="196596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D8EA"/>
                </a:solidFill>
                <a:latin typeface="Calibri"/>
              </a:rPr>
              <a:t>WHO BUYS FIRST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23960" y="2395728"/>
            <a:ext cx="260604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1">
                <a:solidFill>
                  <a:srgbClr val="A9B4C8"/>
                </a:solidFill>
                <a:latin typeface="Calibri"/>
              </a:rPr>
              <a:t>BEACHHEAD — a buy-side risk / quant desk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00" b="0">
                <a:solidFill>
                  <a:srgbClr val="A9B4C8"/>
                </a:solidFill>
                <a:latin typeface="Calibri"/>
              </a:rPr>
              <a:t>about to fund a quantum pilot: we tell them which device (if any) survives THEIR circuit — before they build.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1">
                <a:solidFill>
                  <a:srgbClr val="A9B4C8"/>
                </a:solidFill>
                <a:latin typeface="Calibri"/>
              </a:rPr>
              <a:t>EXPANSION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00" b="0">
                <a:solidFill>
                  <a:srgbClr val="A9B4C8"/>
                </a:solidFill>
                <a:latin typeface="Calibri"/>
              </a:rPr>
              <a:t>Hardware vendors (independent benchmarks) · CTO quantum-readiness diligence · public-sector assurance.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08076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1">
                <a:solidFill>
                  <a:srgbClr val="EEB24C"/>
                </a:solidFill>
                <a:latin typeface="Calibri"/>
              </a:rPr>
              <a:t>Honesty note: segments are target profiles, not signed customers. </a:t>
            </a:r>
            <a:r>
              <a:rPr sz="1100" b="0" i="1">
                <a:solidFill>
                  <a:srgbClr val="A9B4C8"/>
                </a:solidFill>
                <a:latin typeface="Calibri"/>
              </a:rPr>
              <a:t>Pilot LOIs are to be secured — none are claimed here.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EIGENNEXUS  ·  CHIMERA-QRC  ·  GIC 2026 Track 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64240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08 / 09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377440"/>
          </a:xfrm>
          <a:prstGeom prst="rect">
            <a:avLst/>
          </a:prstGeom>
          <a:solidFill>
            <a:srgbClr val="0E15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51460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Truth, timed and priced.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A9B4C8"/>
                </a:solidFill>
                <a:latin typeface="Calibri"/>
              </a:rPr>
              <a:t>An honest negative, a controlled surprise, and the machinery to keep both current.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892040"/>
            <a:ext cx="10515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Team EIGENNEXUS — Christian Metzl · Fares Eldibani · Juan Manuel Aguiar Hualde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Full evidence: submission repository (paper, findings, ledgers, job IDs, reproduction in one command).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50" b="0" i="1">
                <a:solidFill>
                  <a:srgbClr val="6E7A90"/>
                </a:solidFill>
                <a:latin typeface="Calibri"/>
              </a:rPr>
              <a:t>Every claim in this deck is committed, timestamped, and re-derivable from raw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EIGENNEXUS  ·  CHIMERA-QRC  ·  GIC 2026 Track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09 / 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